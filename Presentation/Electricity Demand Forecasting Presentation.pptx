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Funnel Display Bold" panose="020B0604020202020204" charset="0"/>
      <p:regular r:id="rId16"/>
    </p:embeddedFont>
    <p:embeddedFont>
      <p:font typeface="Funnel Display Medium" panose="020B0604020202020204" charset="0"/>
      <p:regular r:id="rId17"/>
    </p:embeddedFont>
    <p:embeddedFont>
      <p:font typeface="Funnel Display SemiBold" panose="020B0604020202020204" charset="0"/>
      <p:regular r:id="rId18"/>
    </p:embeddedFont>
    <p:embeddedFont>
      <p:font typeface="Funnel Sans" panose="020B0604020202020204" charset="0"/>
      <p:regular r:id="rId19"/>
    </p:embeddedFont>
    <p:embeddedFont>
      <p:font typeface="Funnel Sans Bold" panose="020B0604020202020204" charset="0"/>
      <p:regular r:id="rId20"/>
    </p:embeddedFont>
    <p:embeddedFont>
      <p:font typeface="Funnel Sans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92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predicts electricity demand from historical patterns, calendar information and temperature. The focus is short-interval forecasting with an engineered tabular feature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to predict future demand from past patterns and external factors. Five minutes describes the forecast interval; it does not by itself establish the forecast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questions and visual analyses used in exploration, rather than claims about patterns not supplied here. The purpose is to identify useful temporal and external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76% of the supplied split observations are used for training and 24% for testing. These split counts are distinct from the raw dataset count; no reason for that difference was supplied. Chronological separation preserves the direction of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two metrics separately. MAE expresses average absolute error in demand units. RMSE gives greater weight to larger misses. The supplied results do not include a baseline comparison, so these values alone do not establish relative model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BF8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3098800"/>
            <a:ext cx="9270768" cy="3175000"/>
          </a:xfrm>
          <a:prstGeom prst="roundRect">
            <a:avLst>
              <a:gd name="adj" fmla="val 2772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17572" y="3429000"/>
            <a:ext cx="90675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TIME-SERIES MACHINE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7572" y="3705225"/>
            <a:ext cx="845798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44" dirty="0">
                <a:solidFill>
                  <a:srgbClr val="2B3541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Electricity Demand</a:t>
            </a:r>
            <a:endParaRPr lang="en-US" sz="44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44" dirty="0">
                <a:solidFill>
                  <a:srgbClr val="2B3541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Forecasting with XGBoost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17572" y="5096073"/>
            <a:ext cx="906757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Short-interval demand prediction · Presented by Krish Bhatia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17572" y="5576689"/>
            <a:ext cx="90675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· Pandas · XGBoost · Scikit-learn · Jupyter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66038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FORECASTING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85825"/>
            <a:ext cx="6197445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Predicting demand</a:t>
            </a:r>
            <a:endParaRPr lang="en-US" sz="3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5 minutes at a 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562622"/>
            <a:ext cx="6197445" cy="9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600" kern="100" spc="-190" dirty="0">
                <a:solidFill>
                  <a:srgbClr val="157C78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5-minute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711182" y="3695799"/>
            <a:ext cx="619744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Forecast intervals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1182" y="4180284"/>
            <a:ext cx="6197445" cy="136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Historical demand, calendar information and temperature become inputs to future power requirements.</a:t>
            </a:r>
            <a:endParaRPr lang="en-US" sz="16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Capture temporal patterns and demand dependencies as demand shifts through the day.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406400"/>
            <a:ext cx="4470288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Seven objectives, from analysis to a reusable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76784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76784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41" y="1678384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19170" y="1576784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Analyze historical demand patterns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09585" y="2265859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65859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41" y="2367459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19170" y="2265859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Run exploratory analysis and visualization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609585" y="2954933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954933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41" y="3056533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19170" y="2954933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Extract time-based features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609585" y="3644106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644106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4341" y="3745706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19170" y="3644106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Create lag and autoregressive features</a:t>
            </a:r>
            <a:endParaRPr lang="en-US" sz="1850" dirty="0"/>
          </a:p>
        </p:txBody>
      </p:sp>
      <p:sp>
        <p:nvSpPr>
          <p:cNvPr id="20" name="Shape 14"/>
          <p:cNvSpPr/>
          <p:nvPr/>
        </p:nvSpPr>
        <p:spPr>
          <a:xfrm>
            <a:off x="609585" y="4333280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333280"/>
            <a:ext cx="406390" cy="406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41" y="4434880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19170" y="4333280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Train an XGBoost regression model</a:t>
            </a:r>
            <a:endParaRPr lang="en-US" sz="1850" dirty="0"/>
          </a:p>
        </p:txBody>
      </p:sp>
      <p:sp>
        <p:nvSpPr>
          <p:cNvPr id="24" name="Shape 17"/>
          <p:cNvSpPr/>
          <p:nvPr/>
        </p:nvSpPr>
        <p:spPr>
          <a:xfrm>
            <a:off x="609585" y="5022453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022453"/>
            <a:ext cx="406390" cy="406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4341" y="5124053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219170" y="5022453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Evaluate with MAE and RMSE</a:t>
            </a:r>
            <a:endParaRPr lang="en-US" sz="1850" dirty="0"/>
          </a:p>
        </p:txBody>
      </p:sp>
      <p:sp>
        <p:nvSpPr>
          <p:cNvPr id="28" name="Shape 20"/>
          <p:cNvSpPr/>
          <p:nvPr/>
        </p:nvSpPr>
        <p:spPr>
          <a:xfrm>
            <a:off x="609585" y="5711627"/>
            <a:ext cx="406390" cy="406400"/>
          </a:xfrm>
          <a:prstGeom prst="ellipse">
            <a:avLst/>
          </a:prstGeom>
          <a:solidFill>
            <a:srgbClr val="7FD6D2"/>
          </a:solidFill>
          <a:ln/>
          <a:effectLst>
            <a:outerShdw blurRad="125730" dist="127" dir="16200000" algn="bl" rotWithShape="0">
              <a:srgbClr val="6A4FC8">
                <a:alpha val="20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711627"/>
            <a:ext cx="406390" cy="406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54341" y="5813227"/>
            <a:ext cx="72646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219170" y="5711627"/>
            <a:ext cx="1036294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Save the trained model for reuse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DATASET · JAN 2021 TO DEC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393,440 observations across four years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60315"/>
            <a:ext cx="4206075" cy="77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200" kern="100" spc="-155" dirty="0">
                <a:solidFill>
                  <a:srgbClr val="157C78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393,440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09585" y="3338314"/>
            <a:ext cx="420607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Observations · 15 variables</a:t>
            </a:r>
            <a:endParaRPr lang="en-US" sz="16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585" y="4112220"/>
            <a:ext cx="420607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Target: power demand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4543326"/>
            <a:ext cx="420607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 and historical demand included.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585" y="5250557"/>
            <a:ext cx="42060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dataset excluded from GitHub because of its size.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49" y="1889323"/>
            <a:ext cx="6222844" cy="3746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72749" y="5721548"/>
            <a:ext cx="63093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statistics across the raw dataset.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Exploring the patterns behind demand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784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Turn observed patterns into predictive features.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2819896"/>
            <a:ext cx="3454314" cy="2523232"/>
          </a:xfrm>
          <a:prstGeom prst="roundRect">
            <a:avLst>
              <a:gd name="adj" fmla="val 3488"/>
            </a:avLst>
          </a:prstGeom>
          <a:solidFill>
            <a:srgbClr val="D3F0ED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377" y="3124696"/>
            <a:ext cx="284472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When does it change?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377" y="3609181"/>
            <a:ext cx="284472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over time, by day and by month.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377" y="4316413"/>
            <a:ext cx="31495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Time-series plots · Monthly distributions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1" y="2819896"/>
            <a:ext cx="3454314" cy="2523232"/>
          </a:xfrm>
          <a:prstGeom prst="roundRect">
            <a:avLst>
              <a:gd name="adj" fmla="val 3488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3483" y="3124696"/>
            <a:ext cx="284472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2B3541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What is typical?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73483" y="3609181"/>
            <a:ext cx="284472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distribution of demand and its extremes.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73483" y="4316413"/>
            <a:ext cx="31495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distribution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7797" y="2819896"/>
            <a:ext cx="3454314" cy="2523232"/>
          </a:xfrm>
          <a:prstGeom prst="roundRect">
            <a:avLst>
              <a:gd name="adj" fmla="val 3488"/>
            </a:avLst>
          </a:prstGeom>
          <a:solidFill>
            <a:srgbClr val="F9DEEA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2589" y="3124696"/>
            <a:ext cx="284472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What moves together?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32589" y="3609181"/>
            <a:ext cx="2844729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 relationships and correlations between variables.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432589" y="4609703"/>
            <a:ext cx="28447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 vs. demand scatter · Correlation heatmap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509" cy="69106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2493" y="533400"/>
            <a:ext cx="7899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292493" y="809625"/>
            <a:ext cx="734041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Features that capture recent and recurring demand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292493" y="1985169"/>
            <a:ext cx="7340416" cy="1322487"/>
          </a:xfrm>
          <a:prstGeom prst="roundRect">
            <a:avLst>
              <a:gd name="adj" fmla="val 6655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1886" y="2137569"/>
            <a:ext cx="6781630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2B3541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Calendar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571886" y="2568674"/>
            <a:ext cx="678163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year, month, day, hour, minute, week of month, day of week, weekend flag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292493" y="3612455"/>
            <a:ext cx="7340416" cy="1029196"/>
          </a:xfrm>
          <a:prstGeom prst="roundRect">
            <a:avLst>
              <a:gd name="adj" fmla="val 8551"/>
            </a:avLst>
          </a:prstGeom>
          <a:solidFill>
            <a:srgbClr val="D3F0ED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1886" y="3764855"/>
            <a:ext cx="6781630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Historical demand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571886" y="4195961"/>
            <a:ext cx="70610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Lag_5min, Lag_1hour, Lag_1day, Lag_1week, mean_last_hour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292493" y="4946452"/>
            <a:ext cx="7340416" cy="1029196"/>
          </a:xfrm>
          <a:prstGeom prst="roundRect">
            <a:avLst>
              <a:gd name="adj" fmla="val 8551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1886" y="5098852"/>
            <a:ext cx="6781630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2B3541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Weather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571886" y="5529957"/>
            <a:ext cx="70610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292493" y="6162973"/>
            <a:ext cx="78992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Lags capture dependence on recent and recurring history.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MODELING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From raw data to evaluated forecast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486223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2779613"/>
            <a:ext cx="2514537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24373"/>
            <a:ext cx="2514537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Raw data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and cleaning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3428914" y="2486223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428914" y="2779613"/>
            <a:ext cx="2514537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9" name="Text 7"/>
          <p:cNvSpPr/>
          <p:nvPr/>
        </p:nvSpPr>
        <p:spPr>
          <a:xfrm>
            <a:off x="3428914" y="2924373"/>
            <a:ext cx="2514537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Timestamp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processing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48244" y="2486223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248244" y="2779613"/>
            <a:ext cx="2514537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2" name="Text 10"/>
          <p:cNvSpPr/>
          <p:nvPr/>
        </p:nvSpPr>
        <p:spPr>
          <a:xfrm>
            <a:off x="6248244" y="2924373"/>
            <a:ext cx="2514537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Exploratory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analysis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067573" y="2486223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067573" y="2779613"/>
            <a:ext cx="2514537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5" name="Text 13"/>
          <p:cNvSpPr/>
          <p:nvPr/>
        </p:nvSpPr>
        <p:spPr>
          <a:xfrm>
            <a:off x="9067573" y="2924373"/>
            <a:ext cx="2514537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Feature engineering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and lag creation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09585" y="3792934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09585" y="4086324"/>
            <a:ext cx="3454314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4231084"/>
            <a:ext cx="3454314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Chronological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train/test split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368691" y="3792934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06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368691" y="4086324"/>
            <a:ext cx="3454314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21" name="Text 19"/>
          <p:cNvSpPr/>
          <p:nvPr/>
        </p:nvSpPr>
        <p:spPr>
          <a:xfrm>
            <a:off x="4368691" y="4231084"/>
            <a:ext cx="3454314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XGBoost model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and prediction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127797" y="3792934"/>
            <a:ext cx="840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127797" y="4086324"/>
            <a:ext cx="3454314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24" name="Text 22"/>
          <p:cNvSpPr/>
          <p:nvPr/>
        </p:nvSpPr>
        <p:spPr>
          <a:xfrm>
            <a:off x="8127797" y="4231084"/>
            <a:ext cx="3454314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MAE and RMSE</a:t>
            </a:r>
            <a:endParaRPr lang="en-US" sz="1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50" kern="100" spc="-9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evaluation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09585" y="5910659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split is chronological, not random, because this is time-series forecasting.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OUT-OF-TIME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Train on the past, test on the future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62534"/>
            <a:ext cx="4952876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24442" y="1866106"/>
            <a:ext cx="5257668" cy="1653778"/>
          </a:xfrm>
          <a:prstGeom prst="roundRect">
            <a:avLst>
              <a:gd name="adj" fmla="val 5322"/>
            </a:avLst>
          </a:prstGeom>
          <a:solidFill>
            <a:srgbClr val="D3F0ED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234" y="2094706"/>
            <a:ext cx="4648084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kern="100" spc="-140" dirty="0">
                <a:solidFill>
                  <a:srgbClr val="0B413F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297,159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629234" y="2997994"/>
            <a:ext cx="49528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· Jan 2021 to Dec 2023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324442" y="3824684"/>
            <a:ext cx="5257668" cy="1653778"/>
          </a:xfrm>
          <a:prstGeom prst="roundRect">
            <a:avLst>
              <a:gd name="adj" fmla="val 5322"/>
            </a:avLst>
          </a:prstGeom>
          <a:solidFill>
            <a:srgbClr val="F9DEEA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234" y="4053284"/>
            <a:ext cx="4648084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kern="100" spc="-140" dirty="0">
                <a:solidFill>
                  <a:srgbClr val="9E2E6D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94,265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6629234" y="4956572"/>
            <a:ext cx="49528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Testing · Jan 2024 to Dec 2024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09585" y="5955109"/>
            <a:ext cx="115821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Random mixing of past and future would cause data leakage.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Why XGBoost fits this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858566"/>
            <a:ext cx="3002185" cy="3810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125266"/>
            <a:ext cx="2544996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Nonlinear relationships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8179" y="2945011"/>
            <a:ext cx="254499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 demand responses beyond a straight line.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916562" y="1858566"/>
            <a:ext cx="3002284" cy="3810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8" name="Text 6"/>
          <p:cNvSpPr/>
          <p:nvPr/>
        </p:nvSpPr>
        <p:spPr>
          <a:xfrm>
            <a:off x="4145156" y="2125266"/>
            <a:ext cx="254509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Tabular data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45156" y="2609751"/>
            <a:ext cx="2545096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 directly with structured feature columns.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585" y="4064992"/>
            <a:ext cx="3002185" cy="3810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331692"/>
            <a:ext cx="254499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Feature interactions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179" y="4816177"/>
            <a:ext cx="254499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 calendar, history and weather signals.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916562" y="4064992"/>
            <a:ext cx="3002284" cy="3810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4" name="Text 12"/>
          <p:cNvSpPr/>
          <p:nvPr/>
        </p:nvSpPr>
        <p:spPr>
          <a:xfrm>
            <a:off x="4145156" y="4331692"/>
            <a:ext cx="2545096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Engineered time series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45156" y="5151438"/>
            <a:ext cx="254509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lag and recurring-demand features.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75936" y="1576784"/>
            <a:ext cx="4206174" cy="4671616"/>
          </a:xfrm>
          <a:prstGeom prst="roundRect">
            <a:avLst>
              <a:gd name="adj" fmla="val 2092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06128" y="2549128"/>
            <a:ext cx="354579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kern="100" spc="-11" dirty="0">
                <a:solidFill>
                  <a:srgbClr val="2B3541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XGBRegressor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06128" y="3033613"/>
            <a:ext cx="3545791" cy="224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n_estimators=1000</a:t>
            </a:r>
            <a:endParaRPr lang="en-US" sz="1650" dirty="0"/>
          </a:p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learning_rate=0.01</a:t>
            </a:r>
            <a:endParaRPr lang="en-US" sz="1650" dirty="0"/>
          </a:p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early_stopping_rounds=50</a:t>
            </a:r>
            <a:endParaRPr lang="en-US" sz="1650" dirty="0"/>
          </a:p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random_state=42</a:t>
            </a:r>
            <a:endParaRPr lang="en-US" sz="16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objective</a:t>
            </a:r>
            <a:endParaRPr lang="en-US" sz="16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reg:squarederror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8A3FA8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RESULTS · UNSEEN 2024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MAE 42.32 and RMSE 117.79</a:t>
            </a:r>
            <a:endParaRPr lang="en-US" sz="3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051D3A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on unseen 2024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399109"/>
            <a:ext cx="5257668" cy="3090962"/>
          </a:xfrm>
          <a:prstGeom prst="roundRect">
            <a:avLst>
              <a:gd name="adj" fmla="val 2847"/>
            </a:avLst>
          </a:prstGeom>
          <a:solidFill>
            <a:srgbClr val="D3F0ED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5975" y="2805509"/>
            <a:ext cx="48512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75" y="3081734"/>
            <a:ext cx="4444889" cy="11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9000" kern="100" spc="-225" dirty="0">
                <a:solidFill>
                  <a:srgbClr val="0B413F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42.32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015975" y="4408190"/>
            <a:ext cx="4444889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Predictions differ from actual demand by about 42.32 units on average.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24442" y="2399109"/>
            <a:ext cx="5257668" cy="3090962"/>
          </a:xfrm>
          <a:prstGeom prst="roundRect">
            <a:avLst>
              <a:gd name="adj" fmla="val 2847"/>
            </a:avLst>
          </a:prstGeom>
          <a:solidFill>
            <a:srgbClr val="F9DEEA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30832" y="2805509"/>
            <a:ext cx="48512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ROOT MEAN SQUARED 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0832" y="3081734"/>
            <a:ext cx="4444889" cy="11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9000" kern="100" spc="-225" dirty="0">
                <a:solidFill>
                  <a:srgbClr val="9E2E6D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117.79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6730832" y="4408190"/>
            <a:ext cx="4851279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Penalizes larger errors more heavily.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6034187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notebook compares actual vs. predicted demand over the test period.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303" y="3219450"/>
            <a:ext cx="419090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7366" y="441523"/>
            <a:ext cx="11296764" cy="5886847"/>
          </a:xfrm>
          <a:prstGeom prst="roundRect">
            <a:avLst>
              <a:gd name="adj" fmla="val 1495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06152" y="887809"/>
            <a:ext cx="10179192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4000" b="1" kern="100" spc="-40" dirty="0">
                <a:solidFill>
                  <a:srgbClr val="2B3541"/>
                </a:solidFill>
                <a:latin typeface="Funnel Display Bold" pitchFamily="34" charset="0"/>
                <a:ea typeface="Funnel Display Bold" pitchFamily="34" charset="-122"/>
                <a:cs typeface="Funnel Display Bold" pitchFamily="34" charset="-120"/>
              </a:rPr>
              <a:t>Limitations &amp; Future Work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06152" y="2281535"/>
            <a:ext cx="10179192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100" spc="-16" dirty="0">
                <a:solidFill>
                  <a:srgbClr val="051D3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06152" y="2918420"/>
            <a:ext cx="10179192" cy="2562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548640" indent="-548640" algn="l">
              <a:lnSpc>
                <a:spcPct val="117000"/>
              </a:lnSpc>
              <a:buSzPct val="100000"/>
              <a:buChar char="•"/>
            </a:pPr>
            <a:r>
              <a:rPr lang="en-US" sz="2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Current setup is one-step-ahead forecasting.</a:t>
            </a:r>
            <a:endParaRPr lang="en-US" sz="2700" dirty="0"/>
          </a:p>
          <a:p>
            <a:pPr marL="548640" indent="-548640" algn="l">
              <a:lnSpc>
                <a:spcPct val="117000"/>
              </a:lnSpc>
              <a:buSzPct val="100000"/>
              <a:buChar char="•"/>
            </a:pPr>
            <a:r>
              <a:rPr lang="en-US" sz="2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Future lag values become challenging for multi-step forecasting.</a:t>
            </a:r>
            <a:endParaRPr lang="en-US" sz="2700" dirty="0"/>
          </a:p>
          <a:p>
            <a:pPr marL="548640" indent="-548640" algn="l">
              <a:lnSpc>
                <a:spcPct val="117000"/>
              </a:lnSpc>
              <a:buSzPct val="100000"/>
              <a:buChar char="•"/>
            </a:pPr>
            <a:r>
              <a:rPr lang="en-US" sz="2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rolling-origin cross-validation has been performed.</a:t>
            </a:r>
            <a:endParaRPr lang="en-US" sz="2700" dirty="0"/>
          </a:p>
          <a:p>
            <a:pPr marL="548640" indent="-548640" algn="l">
              <a:lnSpc>
                <a:spcPct val="117000"/>
              </a:lnSpc>
              <a:buSzPct val="100000"/>
              <a:buChar char="•"/>
            </a:pPr>
            <a:r>
              <a:rPr lang="en-US" sz="2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Holiday information is not currently included.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303" y="3219450"/>
            <a:ext cx="419090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710" y="371277"/>
            <a:ext cx="11033047" cy="6115447"/>
          </a:xfrm>
          <a:prstGeom prst="roundRect">
            <a:avLst>
              <a:gd name="adj" fmla="val 1439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6497" y="636191"/>
            <a:ext cx="9915475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kern="100" spc="-20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76497" y="1395016"/>
            <a:ext cx="9915475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Built an </a:t>
            </a: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end-to-end electricity demand forecasting pipeline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650" dirty="0"/>
          </a:p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Processed high-frequency </a:t>
            </a: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5-minute demand data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650" dirty="0"/>
          </a:p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Used calendar, temperature, and historical demand features.</a:t>
            </a:r>
            <a:endParaRPr lang="en-US" sz="1650" dirty="0"/>
          </a:p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Applied </a:t>
            </a: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XGBoost regression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forecasting.</a:t>
            </a:r>
            <a:endParaRPr lang="en-US" sz="1650" dirty="0"/>
          </a:p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Achieved:</a:t>
            </a:r>
            <a:endParaRPr lang="en-US" sz="1650" dirty="0"/>
          </a:p>
          <a:p>
            <a:pPr marL="670560" lvl="1" indent="-335280" algn="l">
              <a:lnSpc>
                <a:spcPct val="117000"/>
              </a:lnSpc>
              <a:buSzPct val="100000"/>
              <a:buChar char="◦"/>
            </a:pP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MAE: 42.32</a:t>
            </a:r>
            <a:endParaRPr lang="en-US" sz="1650" dirty="0"/>
          </a:p>
          <a:p>
            <a:pPr marL="670560" lvl="1" indent="-335280" algn="l">
              <a:lnSpc>
                <a:spcPct val="117000"/>
              </a:lnSpc>
              <a:buSzPct val="100000"/>
              <a:buChar char="◦"/>
            </a:pP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RMSE: 117.79</a:t>
            </a:r>
            <a:endParaRPr lang="en-US" sz="1650" dirty="0"/>
          </a:p>
          <a:p>
            <a:pPr marL="335280" indent="-335280" algn="l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Saved the trained model for future reuse.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76497" y="4474766"/>
            <a:ext cx="99154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kern="100" spc="-15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Final Takeaway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90814" y="5157391"/>
            <a:ext cx="96011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Historical demand patterns combined with time-based and weather features can be effectively used with XGBoost for short-interval electricity demand forecasting.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76497" y="5081191"/>
            <a:ext cx="28574" cy="738981"/>
          </a:xfrm>
          <a:prstGeom prst="roundRect">
            <a:avLst>
              <a:gd name="adj" fmla="val 50000"/>
            </a:avLst>
          </a:prstGeom>
          <a:solidFill>
            <a:srgbClr val="B8367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90" y="381000"/>
            <a:ext cx="11429714" cy="6096000"/>
          </a:xfrm>
          <a:prstGeom prst="roundRect">
            <a:avLst>
              <a:gd name="adj" fmla="val 1444"/>
            </a:avLst>
          </a:prstGeom>
          <a:solidFill>
            <a:srgbClr val="FFFCF6"/>
          </a:solidFill>
          <a:ln/>
          <a:effectLst>
            <a:outerShdw blurRad="379730" dist="151130" dir="5400000" algn="bl" rotWithShape="0">
              <a:srgbClr val="6A4FC8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2780" y="2314972"/>
            <a:ext cx="10566136" cy="861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400" kern="100" spc="-64" dirty="0">
                <a:solidFill>
                  <a:srgbClr val="2B3541"/>
                </a:solidFill>
                <a:latin typeface="Funnel Display Medium" pitchFamily="34" charset="0"/>
                <a:ea typeface="Funnel Display Medium" pitchFamily="34" charset="-122"/>
                <a:cs typeface="Funnel Display Medium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780" y="3363813"/>
            <a:ext cx="1056613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kern="100" spc="-12" dirty="0">
                <a:solidFill>
                  <a:srgbClr val="2B3541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Any Questions?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12780" y="3894038"/>
            <a:ext cx="10566136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Krish Bhatia</a:t>
            </a:r>
            <a:endParaRPr lang="en-US" sz="16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50" i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Electricity Demand Forecasting with XGBoost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820</Words>
  <Application>Microsoft Office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Funnel Display Medium</vt:lpstr>
      <vt:lpstr>Funnel Display Bold</vt:lpstr>
      <vt:lpstr>Funnel Display SemiBold</vt:lpstr>
      <vt:lpstr>Funnel Sans</vt:lpstr>
      <vt:lpstr>Funnel Sans SemiBold</vt:lpstr>
      <vt:lpstr>Funnel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Krish Bhatia</cp:lastModifiedBy>
  <cp:revision>1</cp:revision>
  <dcterms:created xsi:type="dcterms:W3CDTF">2026-10-05T15:59:49Z</dcterms:created>
  <dcterms:modified xsi:type="dcterms:W3CDTF">2026-10-05T16:02:11Z</dcterms:modified>
</cp:coreProperties>
</file>